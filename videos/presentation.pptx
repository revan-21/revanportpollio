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49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10D9D-DC5C-A441-B3DC-3855BE3E41D5}" type="datetimeFigureOut">
              <a:rPr lang="en-US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C3372B-198C-EE41-9E8B-0C4CA705E66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80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CF9A7-5806-4A97-83D3-A24C7595D718}" type="slidenum">
              <a:rPr lang="en-IN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234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CF9A7-5806-4A97-83D3-A24C7595D718}" type="slidenum">
              <a:rPr lang="en-IN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110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AB3CEA5-CCE5-680C-E182-B0AD9C06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FC3F6-592A-49D9-ABDB-6FA7F4020C2E}" type="datetimeFigureOut">
              <a:rPr lang="en-IN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A9A8002-AA00-9034-BE92-0DFB578D6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02EE339-1213-0CA3-B4EB-DB4A2C3DE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E4E4-0EEC-42D2-A8CD-5416AF0D58B6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30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7C2C16-C6AF-A800-6054-660D89F0E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2197A27-D2C5-9BCE-E371-BE9B74082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307EC37-E78E-565F-9ACC-21DA546BA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FC3F6-592A-49D9-ABDB-6FA7F4020C2E}" type="datetimeFigureOut">
              <a:rPr lang="en-IN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E630034-32EA-28D8-274C-D0DA52A0A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F36210A-2649-B1BD-DBAE-EF9CCB2A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E4E4-0EEC-42D2-A8CD-5416AF0D58B6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531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1479AA7-427F-08CC-F011-B0EAB020D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50DD3C5-8B00-627A-02C3-7DA07747F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8142898-1A63-051B-1DD6-8C8B4753C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FC3F6-592A-49D9-ABDB-6FA7F4020C2E}" type="datetimeFigureOut">
              <a:rPr lang="en-IN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4E2ABB-2FC4-8102-D051-F9DDE5C279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F668F1C-7DAD-F4C3-C9C3-C3E3EEC3B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2E4E4-0EEC-42D2-A8CD-5416AF0D58B6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086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5498247" y="6143625"/>
            <a:ext cx="1307780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CMRU</a:t>
            </a:r>
          </a:p>
        </p:txBody>
      </p:sp>
      <p:sp>
        <p:nvSpPr>
          <p:cNvPr id="13" name="Title 9">
            <a:extLst>
              <a:ext uri="{FF2B5EF4-FFF2-40B4-BE49-F238E27FC236}">
                <a16:creationId xmlns:a16="http://schemas.microsoft.com/office/drawing/2014/main" xmlns="" id="{1AC919DD-2DA3-6E34-E342-C394D7C8CF58}"/>
              </a:ext>
            </a:extLst>
          </p:cNvPr>
          <p:cNvSpPr txBox="1">
            <a:spLocks/>
          </p:cNvSpPr>
          <p:nvPr/>
        </p:nvSpPr>
        <p:spPr>
          <a:xfrm>
            <a:off x="428040" y="3429000"/>
            <a:ext cx="11448193" cy="23876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Bodoni MT" panose="02070603080606020203" pitchFamily="18" charset="0"/>
                <a:cs typeface="Times New Roman" panose="02020603050405020304" pitchFamily="18" charset="0"/>
              </a:rPr>
              <a:t>SEE Assessment | Internship I, II &amp; III</a:t>
            </a:r>
          </a:p>
          <a:p>
            <a:r>
              <a:rPr lang="en-US" sz="3200" b="1" dirty="0">
                <a:latin typeface="Bodoni MT" panose="02070603080606020203" pitchFamily="18" charset="0"/>
                <a:cs typeface="Times New Roman" panose="02020603050405020304" pitchFamily="18" charset="0"/>
              </a:rPr>
              <a:t>Name: </a:t>
            </a:r>
            <a:r>
              <a:rPr lang="en-US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Revanasidda</a:t>
            </a:r>
            <a:endParaRPr lang="en-US" sz="3200" b="1" dirty="0">
              <a:latin typeface="Bodoni MT" panose="02070603080606020203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Bodoni MT" panose="02070603080606020203" pitchFamily="18" charset="0"/>
                <a:cs typeface="Times New Roman" panose="02020603050405020304" pitchFamily="18" charset="0"/>
              </a:rPr>
              <a:t>USN: </a:t>
            </a:r>
            <a:r>
              <a:rPr lang="en-US" sz="3200" b="1" dirty="0" smtClean="0">
                <a:latin typeface="Bodoni MT" panose="02070603080606020203" pitchFamily="18" charset="0"/>
                <a:cs typeface="Times New Roman" panose="02020603050405020304" pitchFamily="18" charset="0"/>
              </a:rPr>
              <a:t>22BBTCS244</a:t>
            </a:r>
            <a:endParaRPr lang="en-US" sz="3200" b="1" dirty="0">
              <a:latin typeface="Bodoni MT" panose="02070603080606020203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Bodoni MT" panose="02070603080606020203" pitchFamily="18" charset="0"/>
                <a:cs typeface="Times New Roman" panose="02020603050405020304" pitchFamily="18" charset="0"/>
              </a:rPr>
              <a:t>Department: Computer Science &amp; Engineering</a:t>
            </a:r>
          </a:p>
          <a:p>
            <a:endParaRPr lang="en-IN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464F2CB-8F56-C37B-6E29-F6B53AA07F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41" y="162981"/>
            <a:ext cx="5537956" cy="1446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E27CC5B-B6C5-BA52-6E8D-D07747147076}"/>
              </a:ext>
            </a:extLst>
          </p:cNvPr>
          <p:cNvSpPr txBox="1"/>
          <p:nvPr/>
        </p:nvSpPr>
        <p:spPr>
          <a:xfrm>
            <a:off x="897467" y="1613302"/>
            <a:ext cx="10566400" cy="144655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0066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Internship</a:t>
            </a:r>
          </a:p>
          <a:p>
            <a:pPr algn="ctr"/>
            <a:r>
              <a:rPr lang="en-US" sz="4400" b="1" dirty="0">
                <a:solidFill>
                  <a:srgbClr val="000066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9700" y="-59927"/>
            <a:ext cx="12306300" cy="6977853"/>
          </a:xfrm>
          <a:custGeom>
            <a:avLst/>
            <a:gdLst/>
            <a:ahLst/>
            <a:cxnLst/>
            <a:rect l="l" t="t" r="r" b="b"/>
            <a:pathLst>
              <a:path w="12306300" h="6977853">
                <a:moveTo>
                  <a:pt x="0" y="0"/>
                </a:moveTo>
                <a:lnTo>
                  <a:pt x="12306300" y="0"/>
                </a:lnTo>
                <a:lnTo>
                  <a:pt x="12306300" y="6977853"/>
                </a:lnTo>
                <a:lnTo>
                  <a:pt x="0" y="69778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41890" y="1613517"/>
            <a:ext cx="6444621" cy="30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3"/>
              </a:lnSpc>
            </a:pPr>
            <a:endParaRPr lang="en-US" sz="1998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538305" y="366665"/>
            <a:ext cx="2948205" cy="46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Company Overview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73700" y="6359255"/>
            <a:ext cx="1424512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CMRU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xmlns="" id="{1D2DC33C-36EE-E067-0886-B615497FB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054" y="1074281"/>
            <a:ext cx="10602491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Platform Name</a:t>
            </a:r>
            <a:r>
              <a:rPr lang="en-US" alt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CODEC TECHNOLOGIES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Internship Type: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DEVELPEMENT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 of Internship: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(Self-Paced)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Months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Description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CODEC Technologies provides internship opportunities which is designed to help students gain practical knowledge and industry exposure while strengthening the connection between academic concepts and real-world applications.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5865FCDD-7A7F-19AC-656D-874652B820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54" y="161999"/>
            <a:ext cx="3244645" cy="1123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9850" y="60382"/>
            <a:ext cx="12306300" cy="6977853"/>
          </a:xfrm>
          <a:custGeom>
            <a:avLst/>
            <a:gdLst/>
            <a:ahLst/>
            <a:cxnLst/>
            <a:rect l="l" t="t" r="r" b="b"/>
            <a:pathLst>
              <a:path w="12306300" h="6977853">
                <a:moveTo>
                  <a:pt x="0" y="0"/>
                </a:moveTo>
                <a:lnTo>
                  <a:pt x="12306300" y="0"/>
                </a:lnTo>
                <a:lnTo>
                  <a:pt x="12306300" y="6977853"/>
                </a:lnTo>
                <a:lnTo>
                  <a:pt x="0" y="69778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675703" y="456699"/>
            <a:ext cx="3055003" cy="427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4100" y="1370172"/>
            <a:ext cx="9784449" cy="3139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Theme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sz="2000" dirty="0"/>
              <a:t>Learning practical software development practices used in the industry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/>
              <a:t>Exposure to modern web development tools, technologies, and workflows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Improving understanding of frontend and backend integration in web applications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latin typeface="Arial" panose="020B0604020202020204" pitchFamily="34" charset="0"/>
              </a:rPr>
              <a:t>Internship Objectives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Understanding the different phases involved in the software development process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Learning the fundamentals of client-side and server-side web development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Gaining basic knowledge of database management and application architecture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/>
              <a:t>Enhancing analytical thinking and debugging abilities while solving development issues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498247" y="6143625"/>
            <a:ext cx="1502885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CMRU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76060F33-6453-8EA1-8D96-CF19EC9FBB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083" y="246876"/>
            <a:ext cx="3244645" cy="1123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3071" y="-59927"/>
            <a:ext cx="12306300" cy="6977853"/>
          </a:xfrm>
          <a:custGeom>
            <a:avLst/>
            <a:gdLst/>
            <a:ahLst/>
            <a:cxnLst/>
            <a:rect l="l" t="t" r="r" b="b"/>
            <a:pathLst>
              <a:path w="12306300" h="6977853">
                <a:moveTo>
                  <a:pt x="0" y="0"/>
                </a:moveTo>
                <a:lnTo>
                  <a:pt x="12306300" y="0"/>
                </a:lnTo>
                <a:lnTo>
                  <a:pt x="12306300" y="6977853"/>
                </a:lnTo>
                <a:lnTo>
                  <a:pt x="0" y="69778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107593" y="344864"/>
            <a:ext cx="4319178" cy="680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Core Concepts Learnt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9919" y="1445964"/>
            <a:ext cx="10314981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Technologies Applied: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/>
              <a:t>Provides the basic structure and layout for web applications.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/>
              <a:t>Used for designing visual styles, layouts, and adding animations.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/>
              <a:t>Enables dynamic behavior and interactive features in applications.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/>
              <a:t>Helps create responsive layouts using a mobile-first framework.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jQuery: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/>
              <a:t>Makes DOM manipulation and event handling easier and more efficient.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498247" y="6143625"/>
            <a:ext cx="1537871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CMRU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xmlns="" id="{C160D139-CAD5-7F48-8971-78B69CCBE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0" y="3821717"/>
            <a:ext cx="1135631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Concepts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Ensured web applications function properly across desktop, tablet, and mobile platforms.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Implemented techniques to update webpage content dynamically without refreshing the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Handled application logic implementation in projects such as calculator-based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Created user-friendly and visually appealing interface designs.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Performed cross-browser testing to identify and fix issues in browsers like Chrome, Safari, and Firefox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F71ABA5-B3FB-1688-ED55-A2CED15B93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131371"/>
            <a:ext cx="3244645" cy="1123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9700" y="-63506"/>
            <a:ext cx="12306300" cy="6977853"/>
          </a:xfrm>
          <a:custGeom>
            <a:avLst/>
            <a:gdLst/>
            <a:ahLst/>
            <a:cxnLst/>
            <a:rect l="l" t="t" r="r" b="b"/>
            <a:pathLst>
              <a:path w="12306300" h="6977853">
                <a:moveTo>
                  <a:pt x="0" y="0"/>
                </a:moveTo>
                <a:lnTo>
                  <a:pt x="12306300" y="0"/>
                </a:lnTo>
                <a:lnTo>
                  <a:pt x="12306300" y="6977853"/>
                </a:lnTo>
                <a:lnTo>
                  <a:pt x="0" y="69778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3684691" y="486730"/>
            <a:ext cx="5164982" cy="845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IN" sz="2000" b="1" dirty="0"/>
              <a:t>Task 1: Frontend Website Development</a:t>
            </a:r>
          </a:p>
          <a:p>
            <a:pPr algn="ctr">
              <a:lnSpc>
                <a:spcPts val="3494"/>
              </a:lnSpc>
            </a:pP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Times New Roman MT Bold"/>
              <a:cs typeface="Times New Roman" panose="02020603050405020304" pitchFamily="18" charset="0"/>
              <a:sym typeface="Times New Roman M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498247" y="6143625"/>
            <a:ext cx="1537871" cy="264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1601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 CMRU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2951599-9574-D104-254A-4B8EB1CB2D83}"/>
              </a:ext>
            </a:extLst>
          </p:cNvPr>
          <p:cNvSpPr txBox="1">
            <a:spLocks/>
          </p:cNvSpPr>
          <p:nvPr/>
        </p:nvSpPr>
        <p:spPr>
          <a:xfrm>
            <a:off x="379933" y="1409321"/>
            <a:ext cx="11226800" cy="4837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400" b="1" dirty="0">
                <a:solidFill>
                  <a:schemeClr val="tx1"/>
                </a:solidFill>
              </a:rPr>
              <a:t>Tasks Performed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Created web pages using HTML for structure and content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Styled and arranged webpage layouts using CSS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Implemented interactive features using JavaScript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Developed navigation menus, forms, and integrated images into 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webpages</a:t>
            </a:r>
          </a:p>
          <a:p>
            <a:pPr algn="l"/>
            <a:r>
              <a:rPr lang="en-IN" sz="2400" b="1" dirty="0">
                <a:solidFill>
                  <a:schemeClr val="tx1"/>
                </a:solidFill>
              </a:rPr>
              <a:t>Technologies Used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HTML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CSS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JavaScript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Outcome</a:t>
            </a:r>
          </a:p>
          <a:p>
            <a:pPr algn="l"/>
            <a:r>
              <a:rPr lang="en-IN" sz="2400" dirty="0">
                <a:solidFill>
                  <a:schemeClr val="tx1"/>
                </a:solidFill>
              </a:rPr>
              <a:t>Gained practical experience in building dynamic and interactive web pages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5511EEEC-519E-6734-2E5C-7B07B7EAA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300" y="1459918"/>
            <a:ext cx="3559525" cy="27166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385A652-DFCA-FA44-4954-AA4B68824A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426" y="179742"/>
            <a:ext cx="3244645" cy="1123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3503"/>
            <a:ext cx="12306300" cy="6977853"/>
          </a:xfrm>
          <a:custGeom>
            <a:avLst/>
            <a:gdLst/>
            <a:ahLst/>
            <a:cxnLst/>
            <a:rect l="l" t="t" r="r" b="b"/>
            <a:pathLst>
              <a:path w="12306300" h="6977853">
                <a:moveTo>
                  <a:pt x="0" y="0"/>
                </a:moveTo>
                <a:lnTo>
                  <a:pt x="12306300" y="0"/>
                </a:lnTo>
                <a:lnTo>
                  <a:pt x="12306300" y="6977853"/>
                </a:lnTo>
                <a:lnTo>
                  <a:pt x="0" y="69778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3873500" y="436193"/>
            <a:ext cx="5536684" cy="845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4"/>
              </a:lnSpc>
            </a:pPr>
            <a:r>
              <a:rPr lang="en-IN" sz="2000" b="1" dirty="0"/>
              <a:t>Task 2: Responsive Web Design</a:t>
            </a:r>
          </a:p>
          <a:p>
            <a:pPr algn="just">
              <a:lnSpc>
                <a:spcPts val="3494"/>
              </a:lnSpc>
            </a:pP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Times New Roman MT Bold"/>
              <a:cs typeface="Times New Roman" panose="02020603050405020304" pitchFamily="18" charset="0"/>
              <a:sym typeface="Times New Roman M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011612" y="5808021"/>
            <a:ext cx="1174790" cy="264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597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CMRU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2471127-1E78-2A96-CB9B-180EC92C539B}"/>
              </a:ext>
            </a:extLst>
          </p:cNvPr>
          <p:cNvSpPr txBox="1">
            <a:spLocks/>
          </p:cNvSpPr>
          <p:nvPr/>
        </p:nvSpPr>
        <p:spPr>
          <a:xfrm>
            <a:off x="379933" y="1409321"/>
            <a:ext cx="11226800" cy="4837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Implemented </a:t>
            </a:r>
            <a:r>
              <a:rPr lang="en-IN" sz="2400" b="1" dirty="0">
                <a:solidFill>
                  <a:schemeClr val="tx1"/>
                </a:solidFill>
              </a:rPr>
              <a:t>responsive layout techniques</a:t>
            </a:r>
            <a:endParaRPr lang="en-IN" sz="24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Used </a:t>
            </a:r>
            <a:r>
              <a:rPr lang="en-IN" sz="2400" b="1" dirty="0">
                <a:solidFill>
                  <a:schemeClr val="tx1"/>
                </a:solidFill>
              </a:rPr>
              <a:t>CSS media queries</a:t>
            </a:r>
            <a:endParaRPr lang="en-IN" sz="24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Designed pages that adapt to different devices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Tested website on: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Desktop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Tablet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Mobile devices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</a:rPr>
              <a:t>Outcome</a:t>
            </a:r>
            <a:endParaRPr lang="en-IN" sz="24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Improved website usability across multiple screen sizes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DB053B2D-9BD5-0781-CA06-43F66179F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700" y="2144131"/>
            <a:ext cx="3781953" cy="25625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38FF7CD-3DD3-A490-F9A4-4936A4DB41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305" y="158449"/>
            <a:ext cx="3244645" cy="11232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3503"/>
            <a:ext cx="12306300" cy="6977853"/>
          </a:xfrm>
          <a:custGeom>
            <a:avLst/>
            <a:gdLst/>
            <a:ahLst/>
            <a:cxnLst/>
            <a:rect l="l" t="t" r="r" b="b"/>
            <a:pathLst>
              <a:path w="12306300" h="6977853">
                <a:moveTo>
                  <a:pt x="0" y="0"/>
                </a:moveTo>
                <a:lnTo>
                  <a:pt x="12306300" y="0"/>
                </a:lnTo>
                <a:lnTo>
                  <a:pt x="12306300" y="6977853"/>
                </a:lnTo>
                <a:lnTo>
                  <a:pt x="0" y="69778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938663" y="6143625"/>
            <a:ext cx="1174790" cy="264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597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CMRU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25900" y="433588"/>
            <a:ext cx="4420702" cy="845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4"/>
              </a:lnSpc>
            </a:pPr>
            <a:r>
              <a:rPr lang="en-US" sz="2000" b="1" dirty="0"/>
              <a:t>Task 3: Backend Development</a:t>
            </a:r>
          </a:p>
          <a:p>
            <a:pPr>
              <a:lnSpc>
                <a:spcPts val="3494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xmlns="" id="{7FDC2B40-6EC5-303A-8A31-302DA42E02B2}"/>
              </a:ext>
            </a:extLst>
          </p:cNvPr>
          <p:cNvSpPr txBox="1">
            <a:spLocks/>
          </p:cNvSpPr>
          <p:nvPr/>
        </p:nvSpPr>
        <p:spPr>
          <a:xfrm>
            <a:off x="103731" y="914400"/>
            <a:ext cx="11226800" cy="4837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Studied backend architecture of web applications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Understood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client–server communication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Learned how servers process 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 requests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Learned how data is handled in web applications</a:t>
            </a:r>
          </a:p>
          <a:p>
            <a:pPr algn="l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Gained understanding of server-side logic and</a:t>
            </a:r>
          </a:p>
          <a:p>
            <a:pPr algn="l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workflow.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4E79853F-F891-29B3-044F-D69B3C859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723" y="2362200"/>
            <a:ext cx="4410691" cy="3105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643DE70-A809-D676-87C3-956944E2F7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55" y="155844"/>
            <a:ext cx="3244645" cy="11232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9850" y="-228600"/>
            <a:ext cx="12306300" cy="6977853"/>
          </a:xfrm>
          <a:custGeom>
            <a:avLst/>
            <a:gdLst/>
            <a:ahLst/>
            <a:cxnLst/>
            <a:rect l="l" t="t" r="r" b="b"/>
            <a:pathLst>
              <a:path w="12306300" h="6977853">
                <a:moveTo>
                  <a:pt x="0" y="0"/>
                </a:moveTo>
                <a:lnTo>
                  <a:pt x="12306300" y="0"/>
                </a:lnTo>
                <a:lnTo>
                  <a:pt x="12306300" y="6977853"/>
                </a:lnTo>
                <a:lnTo>
                  <a:pt x="0" y="69778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938663" y="6143625"/>
            <a:ext cx="1174790" cy="264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597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CMRU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xmlns="" id="{4F893688-2EA4-A772-A8D4-6A4A88D95810}"/>
              </a:ext>
            </a:extLst>
          </p:cNvPr>
          <p:cNvSpPr txBox="1"/>
          <p:nvPr/>
        </p:nvSpPr>
        <p:spPr>
          <a:xfrm>
            <a:off x="4199430" y="481889"/>
            <a:ext cx="5846270" cy="845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4"/>
              </a:lnSpc>
            </a:pPr>
            <a:r>
              <a:rPr lang="en-US" sz="2000" b="1" dirty="0"/>
              <a:t>Task 4: Development of Complete Web Application</a:t>
            </a:r>
          </a:p>
          <a:p>
            <a:pPr>
              <a:lnSpc>
                <a:spcPts val="3494"/>
              </a:lnSpc>
            </a:pP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Times New Roman MT"/>
              <a:cs typeface="Times New Roman" panose="02020603050405020304" pitchFamily="18" charset="0"/>
              <a:sym typeface="Times New Roman MT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xmlns="" id="{DC07E241-00B6-AB09-271B-48258AF31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700" y="1681487"/>
            <a:ext cx="67818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and backend concepts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user interface and website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forms, navigation menus and dynamic content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and debugged the application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complete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development workflow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29EE2D-A62F-D240-FFC3-9E6017986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677" y="1656906"/>
            <a:ext cx="3991532" cy="30579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2588D5C-FEFF-B2C4-CF4C-35EE2E840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37" y="-15747"/>
            <a:ext cx="3244645" cy="11232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65100" y="-76200"/>
            <a:ext cx="12306300" cy="6977853"/>
          </a:xfrm>
          <a:custGeom>
            <a:avLst/>
            <a:gdLst/>
            <a:ahLst/>
            <a:cxnLst/>
            <a:rect l="l" t="t" r="r" b="b"/>
            <a:pathLst>
              <a:path w="12306300" h="6977853">
                <a:moveTo>
                  <a:pt x="0" y="0"/>
                </a:moveTo>
                <a:lnTo>
                  <a:pt x="12306300" y="0"/>
                </a:lnTo>
                <a:lnTo>
                  <a:pt x="12306300" y="6977853"/>
                </a:lnTo>
                <a:lnTo>
                  <a:pt x="0" y="69778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4243721" y="6270727"/>
            <a:ext cx="1174790" cy="264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  <a:ea typeface="Noto Serif"/>
                <a:cs typeface="Times New Roman" panose="02020603050405020304" pitchFamily="18" charset="0"/>
                <a:sym typeface="Noto Serif"/>
              </a:rPr>
              <a:t>SoET, CMRU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11500" y="228362"/>
            <a:ext cx="7021922" cy="680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Learned</a:t>
            </a: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xmlns="" id="{4E8C29DC-09E8-D267-D005-83F27309F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096" y="1320837"/>
            <a:ext cx="8521004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web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workflow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techniques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learning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FF0AD00-F0BC-2371-FC88-323E2875A8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1" y="162981"/>
            <a:ext cx="3244645" cy="11232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73028"/>
            <a:ext cx="12306300" cy="6977853"/>
          </a:xfrm>
          <a:custGeom>
            <a:avLst/>
            <a:gdLst/>
            <a:ahLst/>
            <a:cxnLst/>
            <a:rect l="l" t="t" r="r" b="b"/>
            <a:pathLst>
              <a:path w="12306300" h="6977853">
                <a:moveTo>
                  <a:pt x="0" y="0"/>
                </a:moveTo>
                <a:lnTo>
                  <a:pt x="12306300" y="0"/>
                </a:lnTo>
                <a:lnTo>
                  <a:pt x="12306300" y="6977853"/>
                </a:lnTo>
                <a:lnTo>
                  <a:pt x="0" y="69778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5367266" y="6143625"/>
            <a:ext cx="1904364" cy="264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597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CMRU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90546" y="589836"/>
            <a:ext cx="3729813" cy="46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496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Outcome Details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1521172"/>
            <a:ext cx="2236041" cy="329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spcBef>
                <a:spcPct val="0"/>
              </a:spcBef>
            </a:pPr>
            <a:r>
              <a:rPr lang="en-US" sz="2003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Key Outcomes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1" y="1924293"/>
            <a:ext cx="5397500" cy="3560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263" lvl="1" indent="-215631">
              <a:lnSpc>
                <a:spcPts val="2796"/>
              </a:lnSpc>
              <a:buFont typeface="Arial"/>
              <a:buChar char="•"/>
            </a:pPr>
            <a:r>
              <a:rPr lang="en-US" sz="2000" dirty="0"/>
              <a:t>Built a strong understanding of front-end web development fundamentals</a:t>
            </a:r>
          </a:p>
          <a:p>
            <a:pPr marL="431263" lvl="1" indent="-215631">
              <a:lnSpc>
                <a:spcPts val="2796"/>
              </a:lnSpc>
              <a:buFont typeface="Arial"/>
              <a:buChar char="•"/>
            </a:pPr>
            <a:r>
              <a:rPr lang="en-US" sz="2000" dirty="0"/>
              <a:t>Enhanced programming proficiency and troubleshooting abilities</a:t>
            </a:r>
          </a:p>
          <a:p>
            <a:pPr marL="431263" lvl="1" indent="-215631">
              <a:lnSpc>
                <a:spcPts val="2796"/>
              </a:lnSpc>
              <a:buFont typeface="Arial"/>
              <a:buChar char="•"/>
            </a:pPr>
            <a:r>
              <a:rPr lang="en-US" sz="2000" dirty="0"/>
              <a:t>Acquired practical experience by developing real-time applications</a:t>
            </a:r>
          </a:p>
          <a:p>
            <a:pPr marL="431263" lvl="1" indent="-215631">
              <a:lnSpc>
                <a:spcPts val="2796"/>
              </a:lnSpc>
              <a:buFont typeface="Arial"/>
              <a:buChar char="•"/>
            </a:pPr>
            <a:r>
              <a:rPr lang="en-US" sz="2000" dirty="0"/>
              <a:t>Gained deeper insight into creating user-friendly and effective interface designs</a:t>
            </a:r>
          </a:p>
          <a:p>
            <a:pPr marL="431263" lvl="1" indent="-215631">
              <a:lnSpc>
                <a:spcPts val="2796"/>
              </a:lnSpc>
              <a:buFont typeface="Arial"/>
              <a:buChar char="•"/>
            </a:pPr>
            <a:r>
              <a:rPr lang="en-US" sz="2000" dirty="0"/>
              <a:t>Developed readiness for more complex academic and professional projects </a:t>
            </a:r>
            <a:endParaRPr lang="en-US" sz="1997" dirty="0">
              <a:solidFill>
                <a:srgbClr val="000000"/>
              </a:solidFill>
              <a:latin typeface="Times New Roman" panose="02020603050405020304" pitchFamily="18" charset="0"/>
              <a:ea typeface="Times New Roman MT"/>
              <a:cs typeface="Times New Roman" panose="02020603050405020304" pitchFamily="18" charset="0"/>
              <a:sym typeface="Times New Roman M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3A0AFC9-7135-0AA0-6478-7DEC928C72E7}"/>
              </a:ext>
            </a:extLst>
          </p:cNvPr>
          <p:cNvSpPr txBox="1"/>
          <p:nvPr/>
        </p:nvSpPr>
        <p:spPr>
          <a:xfrm>
            <a:off x="6016524" y="1987157"/>
            <a:ext cx="5781776" cy="3749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31263" lvl="1" indent="-215631">
              <a:lnSpc>
                <a:spcPts val="2796"/>
              </a:lnSpc>
              <a:buFont typeface="Arial"/>
              <a:buChar char="•"/>
            </a:pPr>
            <a:r>
              <a:rPr lang="en-US" sz="2000" dirty="0"/>
              <a:t>Followed a task-oriented approach during the development process</a:t>
            </a:r>
          </a:p>
          <a:p>
            <a:pPr marL="431263" lvl="1" indent="-215631">
              <a:lnSpc>
                <a:spcPts val="2796"/>
              </a:lnSpc>
              <a:buFont typeface="Arial"/>
              <a:buChar char="•"/>
            </a:pPr>
            <a:r>
              <a:rPr lang="en-US" sz="2000" dirty="0"/>
              <a:t>Gained insight into practical project requirements used in real-world applications</a:t>
            </a:r>
          </a:p>
          <a:p>
            <a:pPr marL="431263" lvl="1" indent="-215631">
              <a:lnSpc>
                <a:spcPts val="2796"/>
              </a:lnSpc>
              <a:buFont typeface="Arial"/>
              <a:buChar char="•"/>
            </a:pPr>
            <a:r>
              <a:rPr lang="en-US" sz="2000" dirty="0"/>
              <a:t>Applied a systematic method for implementation and testing</a:t>
            </a:r>
          </a:p>
          <a:p>
            <a:pPr marL="431263" lvl="1" indent="-215631">
              <a:lnSpc>
                <a:spcPts val="2796"/>
              </a:lnSpc>
              <a:buFont typeface="Arial"/>
              <a:buChar char="•"/>
            </a:pPr>
            <a:r>
              <a:rPr lang="en-US" dirty="0"/>
              <a:t>Developed features step-by-step through incremental development</a:t>
            </a:r>
          </a:p>
          <a:p>
            <a:pPr algn="l">
              <a:lnSpc>
                <a:spcPts val="3076"/>
              </a:lnSpc>
            </a:pPr>
            <a:endParaRPr lang="en-US" sz="1997" dirty="0">
              <a:solidFill>
                <a:srgbClr val="000000"/>
              </a:solidFill>
              <a:latin typeface="Times New Roman" panose="02020603050405020304" pitchFamily="18" charset="0"/>
              <a:ea typeface="Times New Roman MT"/>
              <a:cs typeface="Times New Roman" panose="02020603050405020304" pitchFamily="18" charset="0"/>
              <a:sym typeface="Times New Roman MT"/>
            </a:endParaRPr>
          </a:p>
          <a:p>
            <a:pPr algn="l">
              <a:lnSpc>
                <a:spcPts val="3356"/>
              </a:lnSpc>
              <a:spcBef>
                <a:spcPct val="0"/>
              </a:spcBef>
            </a:pPr>
            <a:endParaRPr lang="en-US" sz="1997" dirty="0">
              <a:solidFill>
                <a:srgbClr val="000000"/>
              </a:solidFill>
              <a:latin typeface="Times New Roman" panose="02020603050405020304" pitchFamily="18" charset="0"/>
              <a:ea typeface="Times New Roman MT"/>
              <a:cs typeface="Times New Roman" panose="02020603050405020304" pitchFamily="18" charset="0"/>
              <a:sym typeface="Times New Roman M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A06D1FA-0863-A1F1-E0CD-8891F69F3A4E}"/>
              </a:ext>
            </a:extLst>
          </p:cNvPr>
          <p:cNvSpPr txBox="1"/>
          <p:nvPr/>
        </p:nvSpPr>
        <p:spPr>
          <a:xfrm>
            <a:off x="6095390" y="1471504"/>
            <a:ext cx="2973857" cy="42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96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 Project-Based Learning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D81B9754-FCBC-B190-C254-6953EAAEB2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08" y="182782"/>
            <a:ext cx="3244645" cy="11232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9CFDFFD-F4DF-0492-93DD-B280CBB2037A}"/>
              </a:ext>
            </a:extLst>
          </p:cNvPr>
          <p:cNvSpPr/>
          <p:nvPr/>
        </p:nvSpPr>
        <p:spPr>
          <a:xfrm>
            <a:off x="884903" y="265471"/>
            <a:ext cx="10432026" cy="90456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21B0CDA7-BC05-DDAD-8417-55CDCECF5F3A}"/>
              </a:ext>
            </a:extLst>
          </p:cNvPr>
          <p:cNvSpPr txBox="1"/>
          <p:nvPr/>
        </p:nvSpPr>
        <p:spPr>
          <a:xfrm>
            <a:off x="5473700" y="6359255"/>
            <a:ext cx="1424512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Noto Serif"/>
                <a:cs typeface="Times New Roman" panose="02020603050405020304" pitchFamily="18" charset="0"/>
                <a:sym typeface="Noto Serif"/>
              </a:rPr>
              <a:t>SoET, CMRU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E7B3552-70D1-F38B-F899-6848F90C2496}"/>
              </a:ext>
            </a:extLst>
          </p:cNvPr>
          <p:cNvSpPr txBox="1"/>
          <p:nvPr/>
        </p:nvSpPr>
        <p:spPr>
          <a:xfrm>
            <a:off x="4621897" y="482805"/>
            <a:ext cx="2948205" cy="41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Company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6D9F1F9-6243-39EB-06BD-8B22E0F60A24}"/>
              </a:ext>
            </a:extLst>
          </p:cNvPr>
          <p:cNvSpPr txBox="1"/>
          <p:nvPr/>
        </p:nvSpPr>
        <p:spPr>
          <a:xfrm>
            <a:off x="658761" y="1425677"/>
            <a:ext cx="10972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B66C0E64-1191-76D5-48FC-A0B560326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753" y="1265358"/>
            <a:ext cx="10602491" cy="5724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Platform Name</a:t>
            </a:r>
            <a:r>
              <a:rPr lang="en-US" altLang="en-U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Cognifyz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Internship Type: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Domain: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DEVELPEMENT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 of Internship: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Description </a:t>
            </a:r>
          </a:p>
          <a:p>
            <a:r>
              <a:rPr lang="en-US" sz="2000" b="1" dirty="0" err="1"/>
              <a:t>Cognifyz</a:t>
            </a:r>
            <a:r>
              <a:rPr lang="en-US" sz="2000" dirty="0"/>
              <a:t> is a company that focuses on delivering innovative digital solutions for businesses. It helps organizations enhance user experience by building responsive and interactive web applications. During my internship, I worked on real-time frontend features, which helped me understand how modern web applications operate in real-world scenarios. The company emphasizes performance, scalability, and user-centric design in the development process.</a:t>
            </a:r>
            <a:r>
              <a:rPr lang="en-US" sz="2000" dirty="0" smtClean="0"/>
              <a:t>.</a:t>
            </a:r>
            <a:endParaRPr 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9A1DF2AF-D30B-4D94-36C6-186A70F728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3" y="145278"/>
            <a:ext cx="3244645" cy="112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17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FEB5A21-D7EB-CDC7-6AA2-59637DDB4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C885D3E-8CE4-35BF-D987-0E65F69FB8AA}"/>
              </a:ext>
            </a:extLst>
          </p:cNvPr>
          <p:cNvSpPr/>
          <p:nvPr/>
        </p:nvSpPr>
        <p:spPr>
          <a:xfrm>
            <a:off x="884903" y="265471"/>
            <a:ext cx="10432026" cy="90456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800BD02C-9FA4-7378-5DD5-BC67F395E98D}"/>
              </a:ext>
            </a:extLst>
          </p:cNvPr>
          <p:cNvSpPr txBox="1"/>
          <p:nvPr/>
        </p:nvSpPr>
        <p:spPr>
          <a:xfrm>
            <a:off x="5369578" y="6593840"/>
            <a:ext cx="1424512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CMRU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05028F7-A8B5-0EF2-EB89-876DD54B350D}"/>
              </a:ext>
            </a:extLst>
          </p:cNvPr>
          <p:cNvSpPr txBox="1"/>
          <p:nvPr/>
        </p:nvSpPr>
        <p:spPr>
          <a:xfrm>
            <a:off x="4621897" y="482805"/>
            <a:ext cx="2948205" cy="85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Introduction</a:t>
            </a:r>
          </a:p>
          <a:p>
            <a:pPr algn="l">
              <a:lnSpc>
                <a:spcPts val="3499"/>
              </a:lnSpc>
            </a:pPr>
            <a:endParaRPr lang="en-US" sz="2499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xmlns="" id="{667C6748-94D4-0F86-AB58-9C37C88AC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517" y="717755"/>
            <a:ext cx="11079490" cy="7509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200" b="1" dirty="0"/>
          </a:p>
          <a:p>
            <a:r>
              <a:rPr lang="en-US" sz="2200" dirty="0"/>
              <a:t>Full stack web development involves building complete web applications that include both frontend and backend components.</a:t>
            </a:r>
            <a:br>
              <a:rPr lang="en-US" sz="2200" dirty="0"/>
            </a:br>
            <a:r>
              <a:rPr lang="en-US" sz="2200" dirty="0"/>
              <a:t>The frontend focuses on user interface and interaction, while the backend handles application logic, data processing, and server-side operations. Databases are used to efficiently store and manage data.</a:t>
            </a:r>
          </a:p>
          <a:p>
            <a:r>
              <a:rPr lang="en-US" sz="2200" dirty="0"/>
              <a:t>During my internship, I worked on all these components, which helped me understand how a complete web application is developed.</a:t>
            </a:r>
          </a:p>
          <a:p>
            <a:r>
              <a:rPr lang="en-US" sz="2200" dirty="0"/>
              <a:t/>
            </a:r>
            <a:br>
              <a:rPr lang="en-US" sz="2200" dirty="0"/>
            </a:br>
            <a:endParaRPr lang="en-US" sz="2200" dirty="0"/>
          </a:p>
          <a:p>
            <a:r>
              <a:rPr lang="en-US" sz="2200" b="1" dirty="0"/>
              <a:t>Objectives</a:t>
            </a:r>
          </a:p>
          <a:p>
            <a:r>
              <a:rPr lang="en-US" sz="2200" dirty="0"/>
              <a:t>To gain hands-on experience in real-world projects </a:t>
            </a:r>
          </a:p>
          <a:p>
            <a:r>
              <a:rPr lang="en-US" sz="2200" dirty="0"/>
              <a:t>To develop frontend and backend development skills </a:t>
            </a:r>
          </a:p>
          <a:p>
            <a:r>
              <a:rPr lang="en-US" sz="2200" dirty="0"/>
              <a:t>To learn RESTful APIs and database management </a:t>
            </a:r>
          </a:p>
          <a:p>
            <a:r>
              <a:rPr lang="en-US" sz="2200" dirty="0"/>
              <a:t>To improve problem-solving and debugging skills </a:t>
            </a:r>
          </a:p>
          <a:p>
            <a:r>
              <a:rPr lang="en-US" sz="2200" dirty="0"/>
              <a:t>To gain exposure to industry-level development workflows </a:t>
            </a:r>
          </a:p>
          <a:p>
            <a:r>
              <a:rPr lang="en-US" sz="2200" dirty="0"/>
              <a:t>To understand full stack web development concepts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5063BFDB-CDDB-3D38-72F3-52AB880C0F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70" y="156107"/>
            <a:ext cx="3244645" cy="112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869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E44C4D1-430B-30E9-AC8B-B8E47A605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7794544-5C74-164E-8010-0C57BAFBFBCF}"/>
              </a:ext>
            </a:extLst>
          </p:cNvPr>
          <p:cNvSpPr/>
          <p:nvPr/>
        </p:nvSpPr>
        <p:spPr>
          <a:xfrm>
            <a:off x="884903" y="265471"/>
            <a:ext cx="10432026" cy="90456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7E268B96-4973-70C2-8082-6F85CAA4F88E}"/>
              </a:ext>
            </a:extLst>
          </p:cNvPr>
          <p:cNvSpPr txBox="1"/>
          <p:nvPr/>
        </p:nvSpPr>
        <p:spPr>
          <a:xfrm>
            <a:off x="5473700" y="6359255"/>
            <a:ext cx="1424512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Noto Serif"/>
                <a:cs typeface="Times New Roman" panose="02020603050405020304" pitchFamily="18" charset="0"/>
                <a:sym typeface="Noto Serif"/>
              </a:rPr>
              <a:t>SoET, CMRU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8B85F37-E0E0-23AB-3C58-AC33D806635F}"/>
              </a:ext>
            </a:extLst>
          </p:cNvPr>
          <p:cNvSpPr txBox="1"/>
          <p:nvPr/>
        </p:nvSpPr>
        <p:spPr>
          <a:xfrm>
            <a:off x="4621897" y="482805"/>
            <a:ext cx="2948205" cy="41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MT Bold"/>
                <a:cs typeface="Times New Roman" panose="02020603050405020304" pitchFamily="18" charset="0"/>
                <a:sym typeface="Times New Roman MT Bold"/>
              </a:rPr>
              <a:t>Technologies Used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538CE01-EE99-9901-F696-8D7CD198F2BD}"/>
              </a:ext>
            </a:extLst>
          </p:cNvPr>
          <p:cNvSpPr txBox="1"/>
          <p:nvPr/>
        </p:nvSpPr>
        <p:spPr>
          <a:xfrm>
            <a:off x="658761" y="1435509"/>
            <a:ext cx="10972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xmlns="" id="{8E285363-4E20-787C-8695-807D278BA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102" y="1737851"/>
            <a:ext cx="332422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8B69624-E2BF-036F-C7F2-2197F22026B2}"/>
              </a:ext>
            </a:extLst>
          </p:cNvPr>
          <p:cNvSpPr txBox="1"/>
          <p:nvPr/>
        </p:nvSpPr>
        <p:spPr>
          <a:xfrm>
            <a:off x="884903" y="1657692"/>
            <a:ext cx="6096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Technologies Used</a:t>
            </a:r>
          </a:p>
          <a:p>
            <a:pPr>
              <a:buNone/>
            </a:pPr>
            <a:r>
              <a:rPr lang="en-IN" sz="2200" b="1" dirty="0"/>
              <a:t>Frontend Technologies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HTML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CSS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JavaScript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React.js </a:t>
            </a:r>
          </a:p>
          <a:p>
            <a:pPr>
              <a:buNone/>
            </a:pPr>
            <a:r>
              <a:rPr lang="en-IN" sz="2200" b="1" dirty="0"/>
              <a:t>Backend Technologies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Node.js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Express.js </a:t>
            </a:r>
          </a:p>
          <a:p>
            <a:pPr>
              <a:buNone/>
            </a:pPr>
            <a:r>
              <a:rPr lang="en-IN" sz="2200" b="1" dirty="0"/>
              <a:t>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MongoDB </a:t>
            </a:r>
          </a:p>
          <a:p>
            <a:pPr>
              <a:buNone/>
            </a:pPr>
            <a:r>
              <a:rPr lang="en-IN" sz="2200" b="1" dirty="0"/>
              <a:t>Tools &amp; Platforms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Git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Visual Studio Code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2828A0F-104D-7614-2048-95C9F94A3E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37" y="156107"/>
            <a:ext cx="3244645" cy="112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455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1B908AF-6106-FF6C-9E61-A74FAC120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C3479C86-76D4-2675-E152-D50077B5709C}"/>
              </a:ext>
            </a:extLst>
          </p:cNvPr>
          <p:cNvSpPr/>
          <p:nvPr/>
        </p:nvSpPr>
        <p:spPr>
          <a:xfrm>
            <a:off x="884903" y="265471"/>
            <a:ext cx="10432026" cy="90456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8C687CD4-8889-D460-D7AC-AEC8A4800E6E}"/>
              </a:ext>
            </a:extLst>
          </p:cNvPr>
          <p:cNvSpPr txBox="1"/>
          <p:nvPr/>
        </p:nvSpPr>
        <p:spPr>
          <a:xfrm>
            <a:off x="5473700" y="6359255"/>
            <a:ext cx="1424512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CMRU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7B74361-E973-0116-DCBC-3ABE2FD673BC}"/>
              </a:ext>
            </a:extLst>
          </p:cNvPr>
          <p:cNvSpPr txBox="1"/>
          <p:nvPr/>
        </p:nvSpPr>
        <p:spPr>
          <a:xfrm>
            <a:off x="4621897" y="482805"/>
            <a:ext cx="5800297" cy="428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 – LMS Portal (Admin Panel)</a:t>
            </a:r>
            <a:endParaRPr lang="en-US" sz="2499" b="1" dirty="0">
              <a:solidFill>
                <a:srgbClr val="000000"/>
              </a:solidFill>
              <a:latin typeface="Times New Roman" panose="02020603050405020304" pitchFamily="18" charset="0"/>
              <a:ea typeface="Times New Roman MT Bold"/>
              <a:cs typeface="Times New Roman" panose="02020603050405020304" pitchFamily="18" charset="0"/>
              <a:sym typeface="Times New Roman MT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E80FF98-986A-1898-B5F4-5617D6E69DF6}"/>
              </a:ext>
            </a:extLst>
          </p:cNvPr>
          <p:cNvSpPr txBox="1"/>
          <p:nvPr/>
        </p:nvSpPr>
        <p:spPr>
          <a:xfrm>
            <a:off x="699556" y="1622322"/>
            <a:ext cx="82183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7EF478B-F097-73EF-1E0F-6DF63F3AE1F4}"/>
              </a:ext>
            </a:extLst>
          </p:cNvPr>
          <p:cNvSpPr txBox="1"/>
          <p:nvPr/>
        </p:nvSpPr>
        <p:spPr>
          <a:xfrm>
            <a:off x="442452" y="1622322"/>
            <a:ext cx="870154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Project: LMS Portal (Admin Panel)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Implemented CRUD operations using RESTful APIs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Developed a system to manage users, courses, and application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Designed a responsive and user-friendly interface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Managed data flow between frontend, backend, and database </a:t>
            </a:r>
          </a:p>
          <a:p>
            <a:pPr>
              <a:buNone/>
            </a:pPr>
            <a:r>
              <a:rPr lang="en-IN" sz="2200" dirty="0"/>
              <a:t/>
            </a:r>
            <a:br>
              <a:rPr lang="en-IN" sz="2200" dirty="0"/>
            </a:br>
            <a:endParaRPr lang="en-IN" sz="2200" dirty="0"/>
          </a:p>
          <a:p>
            <a:pPr>
              <a:buNone/>
            </a:pPr>
            <a:r>
              <a:rPr lang="en-IN" sz="2200" b="1" dirty="0"/>
              <a:t>Technologies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/>
              <a:t>Frontend:</a:t>
            </a:r>
            <a:r>
              <a:rPr lang="en-IN" sz="2200" dirty="0"/>
              <a:t> React.js, HTML, CSS, JavaScript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/>
              <a:t>Backend:</a:t>
            </a:r>
            <a:r>
              <a:rPr lang="en-IN" sz="2200" dirty="0"/>
              <a:t> Node.js, Express.js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/>
              <a:t>Database:</a:t>
            </a:r>
            <a:r>
              <a:rPr lang="en-IN" sz="2200" dirty="0"/>
              <a:t> MongoDB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66454B2B-9A31-5AD0-7FB6-D0B61B3B91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875" y="932235"/>
            <a:ext cx="3787635" cy="2701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6ABA1CE0-E339-03F5-F40D-8DACF68E73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875" y="3922125"/>
            <a:ext cx="3876125" cy="270129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E9618F6D-9AD6-8CE4-AC8F-03C142820C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3" y="135478"/>
            <a:ext cx="3244645" cy="112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150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4C7966A-256A-9059-7300-BC2C9BD4F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E808E9F-5C93-EDF0-E303-703450984C20}"/>
              </a:ext>
            </a:extLst>
          </p:cNvPr>
          <p:cNvSpPr/>
          <p:nvPr/>
        </p:nvSpPr>
        <p:spPr>
          <a:xfrm>
            <a:off x="884903" y="265471"/>
            <a:ext cx="10432026" cy="90456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7755BB16-969B-0008-8241-BF80863901B4}"/>
              </a:ext>
            </a:extLst>
          </p:cNvPr>
          <p:cNvSpPr txBox="1"/>
          <p:nvPr/>
        </p:nvSpPr>
        <p:spPr>
          <a:xfrm>
            <a:off x="5473700" y="6359255"/>
            <a:ext cx="1424512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CMRU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3BABA67-4C2F-5F9A-158B-0B0E10390DAE}"/>
              </a:ext>
            </a:extLst>
          </p:cNvPr>
          <p:cNvSpPr txBox="1"/>
          <p:nvPr/>
        </p:nvSpPr>
        <p:spPr>
          <a:xfrm>
            <a:off x="3913974" y="292555"/>
            <a:ext cx="7402955" cy="8774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800" b="1" dirty="0"/>
              <a:t>Task 2 –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US" sz="2800" b="1" dirty="0"/>
              <a:t> Development (</a:t>
            </a:r>
            <a:r>
              <a:rPr lang="en-US" sz="2800" b="1" dirty="0" err="1"/>
              <a:t>Hondike</a:t>
            </a:r>
            <a:r>
              <a:rPr lang="en-US" sz="2800" b="1" dirty="0"/>
              <a:t> Foundation)</a:t>
            </a:r>
            <a:endParaRPr lang="en-US" sz="2499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4D26AA0-504B-7BAC-04EF-C6BD4D080580}"/>
              </a:ext>
            </a:extLst>
          </p:cNvPr>
          <p:cNvSpPr txBox="1"/>
          <p:nvPr/>
        </p:nvSpPr>
        <p:spPr>
          <a:xfrm>
            <a:off x="658761" y="1425677"/>
            <a:ext cx="10972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9549BC3-37DA-6C4A-4D80-B2AB88B2EF1D}"/>
              </a:ext>
            </a:extLst>
          </p:cNvPr>
          <p:cNvSpPr txBox="1"/>
          <p:nvPr/>
        </p:nvSpPr>
        <p:spPr>
          <a:xfrm>
            <a:off x="658761" y="1612489"/>
            <a:ext cx="60960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Project: Fintervue.io Website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Redesigned the frontend to improve UI/UX experience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Enhanced navigation and overall layout structure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Implemented responsive design for multiple devices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Added interactive elements and dynamic content </a:t>
            </a:r>
          </a:p>
          <a:p>
            <a:pPr>
              <a:buNone/>
            </a:pPr>
            <a:r>
              <a:rPr lang="en-IN" sz="2200" dirty="0"/>
              <a:t/>
            </a:r>
            <a:br>
              <a:rPr lang="en-IN" sz="2200" dirty="0"/>
            </a:br>
            <a:endParaRPr lang="en-IN" sz="2200" dirty="0"/>
          </a:p>
          <a:p>
            <a:pPr>
              <a:buNone/>
            </a:pPr>
            <a:r>
              <a:rPr lang="en-IN" sz="2200" b="1" dirty="0"/>
              <a:t>Technologies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/>
              <a:t>HTML, CSS</a:t>
            </a:r>
            <a:r>
              <a:rPr lang="en-IN" sz="2200" dirty="0"/>
              <a:t> (Flexbox, Grid, Media Queries)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/>
              <a:t>JavaScript</a:t>
            </a:r>
            <a:r>
              <a:rPr lang="en-IN" sz="2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/>
              <a:t>React.js</a:t>
            </a:r>
            <a:endParaRPr lang="en-IN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9FF8C0AA-11B4-6971-3C68-05D8E4B7A5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1500618"/>
            <a:ext cx="5751871" cy="48586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19948317-C607-7053-D133-E7EBB56749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29" y="169649"/>
            <a:ext cx="3244645" cy="112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161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441F3E5-2933-5819-D9DD-88CD15AD8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DD15BD0-18BD-6A8B-D340-A5285A919D12}"/>
              </a:ext>
            </a:extLst>
          </p:cNvPr>
          <p:cNvSpPr/>
          <p:nvPr/>
        </p:nvSpPr>
        <p:spPr>
          <a:xfrm>
            <a:off x="884903" y="265471"/>
            <a:ext cx="10432026" cy="90456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BFFF4761-0E3A-BA97-F075-9DFB481C3688}"/>
              </a:ext>
            </a:extLst>
          </p:cNvPr>
          <p:cNvSpPr txBox="1"/>
          <p:nvPr/>
        </p:nvSpPr>
        <p:spPr>
          <a:xfrm>
            <a:off x="5473700" y="6359255"/>
            <a:ext cx="1424512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CMRU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9F57811-899D-6388-01E9-F48F83BFE6E9}"/>
              </a:ext>
            </a:extLst>
          </p:cNvPr>
          <p:cNvSpPr txBox="1"/>
          <p:nvPr/>
        </p:nvSpPr>
        <p:spPr>
          <a:xfrm>
            <a:off x="4621897" y="482805"/>
            <a:ext cx="6085432" cy="428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IN" sz="2800" dirty="0"/>
              <a:t>Backend &amp; API Development</a:t>
            </a:r>
            <a:endParaRPr lang="en-US" sz="2499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25F4D5F-D0CC-6051-0A87-785554076D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343" y="2300605"/>
            <a:ext cx="4515485" cy="2256790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353BFBD6-066B-9C8F-C85C-98A6C806AAF5}"/>
              </a:ext>
            </a:extLst>
          </p:cNvPr>
          <p:cNvSpPr txBox="1"/>
          <p:nvPr/>
        </p:nvSpPr>
        <p:spPr>
          <a:xfrm>
            <a:off x="265469" y="1207148"/>
            <a:ext cx="6518787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Backend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Developed RESTful APIs using </a:t>
            </a:r>
            <a:r>
              <a:rPr lang="en-IN" sz="2200" b="1" dirty="0"/>
              <a:t>Node.js</a:t>
            </a:r>
            <a:r>
              <a:rPr lang="en-IN" sz="2200" dirty="0"/>
              <a:t> and </a:t>
            </a:r>
            <a:r>
              <a:rPr lang="en-IN" sz="2200" b="1" dirty="0"/>
              <a:t>Express.js</a:t>
            </a:r>
            <a:r>
              <a:rPr lang="en-IN" sz="2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Implemented CRUD operations for efficient data handling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Designed structured routes, controllers, and middleware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Performed data validation and handled errors effectively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Ensured smooth communication between frontend and backend </a:t>
            </a:r>
          </a:p>
          <a:p>
            <a:pPr>
              <a:buNone/>
            </a:pPr>
            <a:r>
              <a:rPr lang="en-IN" sz="2200" dirty="0"/>
              <a:t/>
            </a:r>
            <a:br>
              <a:rPr lang="en-IN" sz="2200" dirty="0"/>
            </a:br>
            <a:endParaRPr lang="en-IN" sz="2200" dirty="0"/>
          </a:p>
          <a:p>
            <a:pPr>
              <a:buNone/>
            </a:pPr>
            <a:r>
              <a:rPr lang="en-IN" sz="2200" b="1" dirty="0"/>
              <a:t>Technologies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/>
              <a:t>Node.js</a:t>
            </a:r>
            <a:r>
              <a:rPr lang="en-IN" sz="2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/>
              <a:t>Express.js</a:t>
            </a:r>
            <a:r>
              <a:rPr lang="en-IN" sz="2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/>
              <a:t>REST APIs</a:t>
            </a:r>
            <a:endParaRPr lang="en-IN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2EABD7D-ABF5-9438-FDFD-4D0E779F60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71" y="141652"/>
            <a:ext cx="3244645" cy="112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24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0BE12E-5097-7B11-3F91-3D5FEDE55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1704C9B-F0C2-255A-3FF9-250756A8E518}"/>
              </a:ext>
            </a:extLst>
          </p:cNvPr>
          <p:cNvSpPr/>
          <p:nvPr/>
        </p:nvSpPr>
        <p:spPr>
          <a:xfrm>
            <a:off x="884903" y="265471"/>
            <a:ext cx="10432026" cy="90456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049E66C5-32D2-CD3B-7AEB-1685FE17B212}"/>
              </a:ext>
            </a:extLst>
          </p:cNvPr>
          <p:cNvSpPr txBox="1"/>
          <p:nvPr/>
        </p:nvSpPr>
        <p:spPr>
          <a:xfrm>
            <a:off x="5473700" y="6359255"/>
            <a:ext cx="1424512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CMRU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918B410-5E2D-9192-65D7-B2AE333B0A2D}"/>
              </a:ext>
            </a:extLst>
          </p:cNvPr>
          <p:cNvSpPr txBox="1"/>
          <p:nvPr/>
        </p:nvSpPr>
        <p:spPr>
          <a:xfrm>
            <a:off x="4347109" y="499737"/>
            <a:ext cx="6321406" cy="428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IN" sz="2800" dirty="0"/>
              <a:t>Database Management (MongoDB)</a:t>
            </a:r>
            <a:endParaRPr lang="en-US" sz="2499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8C0EBF1D-B2B8-5B84-98C1-E1F96B842645}"/>
              </a:ext>
            </a:extLst>
          </p:cNvPr>
          <p:cNvSpPr txBox="1"/>
          <p:nvPr/>
        </p:nvSpPr>
        <p:spPr>
          <a:xfrm>
            <a:off x="383458" y="1375332"/>
            <a:ext cx="587844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Database Implementation</a:t>
            </a:r>
          </a:p>
          <a:p>
            <a:pPr>
              <a:buNone/>
            </a:pPr>
            <a:endParaRPr lang="en-IN" sz="2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Used </a:t>
            </a:r>
            <a:r>
              <a:rPr lang="en-IN" sz="2200" b="1" dirty="0"/>
              <a:t>MongoDB</a:t>
            </a:r>
            <a:r>
              <a:rPr lang="en-IN" sz="2200" dirty="0"/>
              <a:t> for storing and managing application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Designed efficient schemas and data models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Performed CRUD operations (Create, Read, Update, Delete)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Implemented data validation and optimized database queries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Ensured smooth integration with backend APIs </a:t>
            </a:r>
          </a:p>
          <a:p>
            <a:pPr>
              <a:buNone/>
            </a:pPr>
            <a:r>
              <a:rPr lang="en-IN" sz="2200" dirty="0"/>
              <a:t/>
            </a:r>
            <a:br>
              <a:rPr lang="en-IN" sz="2200" dirty="0"/>
            </a:br>
            <a:endParaRPr lang="en-IN" sz="2200" dirty="0"/>
          </a:p>
          <a:p>
            <a:pPr>
              <a:buNone/>
            </a:pPr>
            <a:r>
              <a:rPr lang="en-IN" sz="2200" b="1" dirty="0"/>
              <a:t>Technologies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/>
              <a:t>MongoDB (NoSQL Database)</a:t>
            </a:r>
            <a:r>
              <a:rPr lang="en-IN" sz="2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/>
              <a:t>Mongoose (Schema </a:t>
            </a:r>
            <a:r>
              <a:rPr lang="en-IN" sz="2200" b="1" dirty="0" err="1"/>
              <a:t>Modeling</a:t>
            </a:r>
            <a:r>
              <a:rPr lang="en-IN" sz="2200" b="1" dirty="0"/>
              <a:t> Tool)</a:t>
            </a:r>
            <a:endParaRPr lang="en-IN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EF265B7-C90C-40D0-BF00-3810C41B4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096" y="1722063"/>
            <a:ext cx="5878446" cy="39759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6BAA83B5-E4E6-5EC6-B4B7-8CD78A1600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230" y="162017"/>
            <a:ext cx="3244645" cy="112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26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CD2AB74-FF3B-B858-B433-88DEC7C79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2CEF29D-8BA2-61A9-9EC5-CF9BCF66F8CF}"/>
              </a:ext>
            </a:extLst>
          </p:cNvPr>
          <p:cNvSpPr/>
          <p:nvPr/>
        </p:nvSpPr>
        <p:spPr>
          <a:xfrm>
            <a:off x="884903" y="265471"/>
            <a:ext cx="10432026" cy="90456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85857633-11A0-7909-4C74-074556E24C26}"/>
              </a:ext>
            </a:extLst>
          </p:cNvPr>
          <p:cNvSpPr txBox="1"/>
          <p:nvPr/>
        </p:nvSpPr>
        <p:spPr>
          <a:xfrm>
            <a:off x="5473700" y="6359255"/>
            <a:ext cx="1424512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CMRU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2EE26A8-54A4-E2D3-AABF-1A0B5A34D964}"/>
              </a:ext>
            </a:extLst>
          </p:cNvPr>
          <p:cNvSpPr txBox="1"/>
          <p:nvPr/>
        </p:nvSpPr>
        <p:spPr>
          <a:xfrm>
            <a:off x="4621897" y="482805"/>
            <a:ext cx="5662645" cy="428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IN" sz="2800" dirty="0"/>
              <a:t>System Workflow &amp; Challenges</a:t>
            </a:r>
            <a:endParaRPr lang="en-US" sz="2499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8E6C188-2724-82EA-054A-58F2637FCF11}"/>
              </a:ext>
            </a:extLst>
          </p:cNvPr>
          <p:cNvSpPr txBox="1"/>
          <p:nvPr/>
        </p:nvSpPr>
        <p:spPr>
          <a:xfrm>
            <a:off x="609600" y="1387373"/>
            <a:ext cx="10972800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System Workflow:</a:t>
            </a: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User interacts with the </a:t>
            </a:r>
            <a:r>
              <a:rPr lang="en-US" sz="2200" b="1" dirty="0"/>
              <a:t>Frontend (React.js UI)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Request is sent to </a:t>
            </a:r>
            <a:r>
              <a:rPr lang="en-US" sz="2200" b="1" dirty="0"/>
              <a:t>Backend (Node.js &amp; Express API)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Backend communicates with </a:t>
            </a:r>
            <a:r>
              <a:rPr lang="en-US" sz="2200" b="1" dirty="0"/>
              <a:t>MongoDB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Backend processes data and integrates </a:t>
            </a:r>
            <a:r>
              <a:rPr lang="en-US" sz="2200" b="1" dirty="0"/>
              <a:t>Speech-to-Text</a:t>
            </a: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Processed response is sent back to the frontend and </a:t>
            </a:r>
          </a:p>
          <a:p>
            <a:r>
              <a:rPr lang="en-US" sz="2200" dirty="0"/>
              <a:t>    displayed to the user</a:t>
            </a:r>
            <a:endParaRPr lang="en-US" sz="2200" b="1" dirty="0"/>
          </a:p>
          <a:p>
            <a:endParaRPr lang="en-US" sz="2200" b="1" dirty="0"/>
          </a:p>
          <a:p>
            <a:r>
              <a:rPr lang="en-US" sz="2200" b="1" dirty="0"/>
              <a:t>Challenges Faced:</a:t>
            </a: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Integrating </a:t>
            </a:r>
            <a:r>
              <a:rPr lang="en-US" sz="2200" b="1" dirty="0"/>
              <a:t>AI features (Speech-to-Text &amp; Avatar)</a:t>
            </a:r>
            <a:r>
              <a:rPr lang="en-US" sz="2200" dirty="0"/>
              <a:t> with MERN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Managing smooth communication between frontend, backend, and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Handling API errors and debugging backend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Ensuring responsive and user-friendly UI across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Optimizing performance for real-time interview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Managing time and handling multiple development tasks</a:t>
            </a:r>
            <a:endParaRPr lang="en-IN" sz="22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6CC7998-3B7D-0439-4AA6-8AE020F1797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28" t="15844" b="24664"/>
          <a:stretch>
            <a:fillRect/>
          </a:stretch>
        </p:blipFill>
        <p:spPr bwMode="auto">
          <a:xfrm>
            <a:off x="7201850" y="1479278"/>
            <a:ext cx="4774030" cy="210170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849FC07-AD3F-2049-0290-1272BF43D5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03" y="155410"/>
            <a:ext cx="3244645" cy="112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063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EF67EBC-1CD5-502D-4D80-44084C873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391C1B78-8DB1-6567-D446-E95CACE3C180}"/>
              </a:ext>
            </a:extLst>
          </p:cNvPr>
          <p:cNvSpPr/>
          <p:nvPr/>
        </p:nvSpPr>
        <p:spPr>
          <a:xfrm>
            <a:off x="884903" y="265471"/>
            <a:ext cx="10432026" cy="90456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8A532BBA-412C-5C41-F5F4-82BA2A4FE7AD}"/>
              </a:ext>
            </a:extLst>
          </p:cNvPr>
          <p:cNvSpPr txBox="1"/>
          <p:nvPr/>
        </p:nvSpPr>
        <p:spPr>
          <a:xfrm>
            <a:off x="5473700" y="6359255"/>
            <a:ext cx="1424512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CMRU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7E04AF0-AB84-3D34-B3B0-962E17445D2D}"/>
              </a:ext>
            </a:extLst>
          </p:cNvPr>
          <p:cNvSpPr txBox="1"/>
          <p:nvPr/>
        </p:nvSpPr>
        <p:spPr>
          <a:xfrm>
            <a:off x="4621897" y="482805"/>
            <a:ext cx="4807238" cy="409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Skills Learnt  &amp; Outcomes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B9D18BC-39EB-4F40-8E56-A9D7870F45D8}"/>
              </a:ext>
            </a:extLst>
          </p:cNvPr>
          <p:cNvSpPr txBox="1"/>
          <p:nvPr/>
        </p:nvSpPr>
        <p:spPr>
          <a:xfrm>
            <a:off x="658761" y="1425677"/>
            <a:ext cx="10972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xmlns="" id="{4FA9FE28-B544-8C48-A059-85A449B09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903" y="720981"/>
            <a:ext cx="8239432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Learned: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Full Stack Development using </a:t>
            </a:r>
            <a:r>
              <a:rPr lang="en-US" sz="2200" b="1" dirty="0"/>
              <a:t>MERN Stack (MongoDB, Express.js, React.js, Node.js)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Speech-to-Text Integration &amp; AI-based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RESTful API Development &amp;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Frontend UI/UX Design &amp;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/>
              <a:t>Debugging, Testing &amp; Performance Improvement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Working with AI Avatar Integration (Beyond Presence)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Achieved: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Successfully implemented </a:t>
            </a:r>
            <a:r>
              <a:rPr lang="en-US" sz="2200" b="1" dirty="0"/>
              <a:t>AI-based interview features</a:t>
            </a:r>
            <a:r>
              <a:rPr lang="en-US" sz="2200" dirty="0"/>
              <a:t> (speech-to-text &amp; avatar integration)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Automated candidate interview report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Improved dashboard UI and fixed critical frontend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Enhanced user experience by optimizing page flow and animations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Gained hands-on experience in real-world full-stack development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0EACE957-F41B-4ACA-6F09-DB2DFC16B9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980" y="233888"/>
            <a:ext cx="3244645" cy="112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251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3503" y="-63503"/>
            <a:ext cx="12306300" cy="6977853"/>
          </a:xfrm>
          <a:custGeom>
            <a:avLst/>
            <a:gdLst/>
            <a:ahLst/>
            <a:cxnLst/>
            <a:rect l="l" t="t" r="r" b="b"/>
            <a:pathLst>
              <a:path w="12306300" h="6977853">
                <a:moveTo>
                  <a:pt x="0" y="0"/>
                </a:moveTo>
                <a:lnTo>
                  <a:pt x="12306300" y="0"/>
                </a:lnTo>
                <a:lnTo>
                  <a:pt x="12306300" y="6977853"/>
                </a:lnTo>
                <a:lnTo>
                  <a:pt x="0" y="69778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5062607" y="6416641"/>
            <a:ext cx="1549003" cy="264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597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CMRU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62607" y="461170"/>
            <a:ext cx="2245225" cy="46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496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Certificate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1AC523D0-3F43-9330-2692-A79AFFDB2E1B}"/>
              </a:ext>
            </a:extLst>
          </p:cNvPr>
          <p:cNvSpPr/>
          <p:nvPr/>
        </p:nvSpPr>
        <p:spPr>
          <a:xfrm>
            <a:off x="3644900" y="1295400"/>
            <a:ext cx="228600" cy="518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7101DBA-FBED-95E2-187A-7C1229C510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230" y="162017"/>
            <a:ext cx="3244645" cy="112329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313" y="1316136"/>
            <a:ext cx="7449590" cy="471553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338AFA5-B2E7-E9AC-2AEB-C28376E3E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xmlns="" id="{F8D3D4EB-7488-AF2D-36A0-8160C7BB30A3}"/>
              </a:ext>
            </a:extLst>
          </p:cNvPr>
          <p:cNvSpPr/>
          <p:nvPr/>
        </p:nvSpPr>
        <p:spPr>
          <a:xfrm>
            <a:off x="-63503" y="-63503"/>
            <a:ext cx="12306300" cy="6977853"/>
          </a:xfrm>
          <a:custGeom>
            <a:avLst/>
            <a:gdLst/>
            <a:ahLst/>
            <a:cxnLst/>
            <a:rect l="l" t="t" r="r" b="b"/>
            <a:pathLst>
              <a:path w="12306300" h="6977853">
                <a:moveTo>
                  <a:pt x="0" y="0"/>
                </a:moveTo>
                <a:lnTo>
                  <a:pt x="12306300" y="0"/>
                </a:lnTo>
                <a:lnTo>
                  <a:pt x="12306300" y="6977853"/>
                </a:lnTo>
                <a:lnTo>
                  <a:pt x="0" y="69778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xmlns="" id="{1322EFF1-BBD1-4874-17B5-B9E271C4F4AE}"/>
              </a:ext>
            </a:extLst>
          </p:cNvPr>
          <p:cNvSpPr txBox="1"/>
          <p:nvPr/>
        </p:nvSpPr>
        <p:spPr>
          <a:xfrm>
            <a:off x="5062607" y="6416641"/>
            <a:ext cx="1549003" cy="264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597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CMRU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xmlns="" id="{84D09366-8E97-F191-3F72-9776667843B8}"/>
              </a:ext>
            </a:extLst>
          </p:cNvPr>
          <p:cNvSpPr txBox="1"/>
          <p:nvPr/>
        </p:nvSpPr>
        <p:spPr>
          <a:xfrm>
            <a:off x="5062607" y="461170"/>
            <a:ext cx="2245225" cy="469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496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Certificate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57C4935-7D9A-EA69-F46E-11668B5B74D5}"/>
              </a:ext>
            </a:extLst>
          </p:cNvPr>
          <p:cNvSpPr/>
          <p:nvPr/>
        </p:nvSpPr>
        <p:spPr>
          <a:xfrm>
            <a:off x="3644900" y="1295400"/>
            <a:ext cx="228600" cy="518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C750499-4C28-83E0-985C-E97C55CBA9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230" y="162017"/>
            <a:ext cx="3244645" cy="11232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799" y="1295400"/>
            <a:ext cx="7487695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627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908B14D-0B5D-DC1A-2713-50ECEBA14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C187582-2991-37A8-BCDB-1748C8C3AD94}"/>
              </a:ext>
            </a:extLst>
          </p:cNvPr>
          <p:cNvSpPr/>
          <p:nvPr/>
        </p:nvSpPr>
        <p:spPr>
          <a:xfrm>
            <a:off x="884903" y="265471"/>
            <a:ext cx="10432026" cy="90456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D0252718-744C-F9DA-D544-5890D634BFA1}"/>
              </a:ext>
            </a:extLst>
          </p:cNvPr>
          <p:cNvSpPr txBox="1"/>
          <p:nvPr/>
        </p:nvSpPr>
        <p:spPr>
          <a:xfrm>
            <a:off x="5159068" y="6593840"/>
            <a:ext cx="1424512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CMRU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DE1116F-8397-C035-B68F-6877F0F9FE5D}"/>
              </a:ext>
            </a:extLst>
          </p:cNvPr>
          <p:cNvSpPr txBox="1"/>
          <p:nvPr/>
        </p:nvSpPr>
        <p:spPr>
          <a:xfrm>
            <a:off x="4621897" y="482805"/>
            <a:ext cx="4807238" cy="409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Skills Learnt  &amp; Outcomes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FA9FA6F-6DF9-13D4-94D3-34F75719EE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71" y="171791"/>
            <a:ext cx="3244645" cy="11232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373" y="1263719"/>
            <a:ext cx="4305901" cy="53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552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CDFD6D1-0C1F-0790-92C3-F5D7D82AB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C870C56D-2014-E9AE-FCE9-F03630D14BDB}"/>
              </a:ext>
            </a:extLst>
          </p:cNvPr>
          <p:cNvSpPr/>
          <p:nvPr/>
        </p:nvSpPr>
        <p:spPr>
          <a:xfrm>
            <a:off x="884903" y="265471"/>
            <a:ext cx="10432026" cy="90456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xmlns="" id="{AB470376-72D4-E9C0-E956-126AC35DE239}"/>
              </a:ext>
            </a:extLst>
          </p:cNvPr>
          <p:cNvSpPr txBox="1"/>
          <p:nvPr/>
        </p:nvSpPr>
        <p:spPr>
          <a:xfrm>
            <a:off x="5473700" y="6359255"/>
            <a:ext cx="1424512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Noto Serif"/>
                <a:ea typeface="Noto Serif"/>
                <a:cs typeface="Noto Serif"/>
                <a:sym typeface="Noto Serif"/>
              </a:rPr>
              <a:t>SoET, CMRU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xmlns="" id="{F34E8833-B1E3-63E6-6134-A04D553527C3}"/>
              </a:ext>
            </a:extLst>
          </p:cNvPr>
          <p:cNvSpPr txBox="1"/>
          <p:nvPr/>
        </p:nvSpPr>
        <p:spPr>
          <a:xfrm>
            <a:off x="3595034" y="2871270"/>
            <a:ext cx="4832558" cy="994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43"/>
              </a:lnSpc>
              <a:spcBef>
                <a:spcPct val="0"/>
              </a:spcBef>
            </a:pPr>
            <a:r>
              <a:rPr lang="en-US" sz="5887" b="1" dirty="0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THANK YOU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A1F7A4C3-91F0-950C-4F7C-3AC6CA6E1C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230" y="162017"/>
            <a:ext cx="3244645" cy="112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11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1012</Words>
  <Application>Microsoft Office PowerPoint</Application>
  <PresentationFormat>Widescreen</PresentationFormat>
  <Paragraphs>284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Aptos</vt:lpstr>
      <vt:lpstr>Arial</vt:lpstr>
      <vt:lpstr>Bodoni MT</vt:lpstr>
      <vt:lpstr>Calibri</vt:lpstr>
      <vt:lpstr>Calibri Light</vt:lpstr>
      <vt:lpstr>Noto Serif</vt:lpstr>
      <vt:lpstr>Noto Serif Bold</vt:lpstr>
      <vt:lpstr>Times New Roman</vt:lpstr>
      <vt:lpstr>Times New Roman Bold</vt:lpstr>
      <vt:lpstr>Times New Roman MT</vt:lpstr>
      <vt:lpstr>Times New Roman MT Bold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Welcome</cp:lastModifiedBy>
  <cp:revision>2</cp:revision>
  <dcterms:modified xsi:type="dcterms:W3CDTF">2026-05-04T06:33:29Z</dcterms:modified>
</cp:coreProperties>
</file>